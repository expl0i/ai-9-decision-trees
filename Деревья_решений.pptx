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1C22"/>
                </a:solidFill>
                <a:latin typeface="Cambria"/>
              </a:defRPr>
            </a:pPr>
            <a:r>
              <a:rPr sz="1100" b="0" i="0" u="none" strike="noStrike">
                <a:solidFill>
                  <a:srgbClr val="1C1C22"/>
                </a:solidFill>
                <a:latin typeface="Cambria"/>
              </a:rPr>
              <a:t>Прирост для каждого вопроса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часы</c:v>
                </c:pt>
              </c:strCache>
            </c:strRef>
          </c:tx>
          <c:spPr>
            <a:solidFill>
              <a:srgbClr val="B8AB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ч≤1.5</c:v>
                  </c:pt>
                  <c:pt idx="1">
                    <c:v>ч≤2.5</c:v>
                  </c:pt>
                  <c:pt idx="2">
                    <c:v>ч≤3.5</c:v>
                  </c:pt>
                  <c:pt idx="3">
                    <c:v>ч≤4.5</c:v>
                  </c:pt>
                  <c:pt idx="4">
                    <c:v>ч≤5.5</c:v>
                  </c:pt>
                  <c:pt idx="5">
                    <c:v>ч≤6.5</c:v>
                  </c:pt>
                  <c:pt idx="6">
                    <c:v>ч≤7.5</c:v>
                  </c:pt>
                  <c:pt idx="7">
                    <c:v>ч≤8.5</c:v>
                  </c:pt>
                  <c:pt idx="8">
                    <c:v>с≤5.5</c:v>
                  </c:pt>
                  <c:pt idx="9">
                    <c:v>с≤6.5</c:v>
                  </c:pt>
                  <c:pt idx="10">
                    <c:v>с≤7.5</c:v>
                  </c:pt>
                  <c:pt idx="11">
                    <c:v>с≤8.5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0.08</c:v>
                </c:pt>
                <c:pt idx="1">
                  <c:v>0.309</c:v>
                </c:pt>
                <c:pt idx="2">
                  <c:v>0.163</c:v>
                </c:pt>
                <c:pt idx="3">
                  <c:v>0.32</c:v>
                </c:pt>
                <c:pt idx="4">
                  <c:v>0.213</c:v>
                </c:pt>
                <c:pt idx="5">
                  <c:v>0.137</c:v>
                </c:pt>
                <c:pt idx="6">
                  <c:v>0.08</c:v>
                </c:pt>
                <c:pt idx="7">
                  <c:v>0.036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сон</c:v>
                </c:pt>
              </c:strCache>
            </c:strRef>
          </c:tx>
          <c:spPr>
            <a:solidFill>
              <a:srgbClr val="9A9A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ч≤1.5</c:v>
                  </c:pt>
                  <c:pt idx="1">
                    <c:v>ч≤2.5</c:v>
                  </c:pt>
                  <c:pt idx="2">
                    <c:v>ч≤3.5</c:v>
                  </c:pt>
                  <c:pt idx="3">
                    <c:v>ч≤4.5</c:v>
                  </c:pt>
                  <c:pt idx="4">
                    <c:v>ч≤5.5</c:v>
                  </c:pt>
                  <c:pt idx="5">
                    <c:v>ч≤6.5</c:v>
                  </c:pt>
                  <c:pt idx="6">
                    <c:v>ч≤7.5</c:v>
                  </c:pt>
                  <c:pt idx="7">
                    <c:v>ч≤8.5</c:v>
                  </c:pt>
                  <c:pt idx="8">
                    <c:v>с≤5.5</c:v>
                  </c:pt>
                  <c:pt idx="9">
                    <c:v>с≤6.5</c:v>
                  </c:pt>
                  <c:pt idx="10">
                    <c:v>с≤7.5</c:v>
                  </c:pt>
                  <c:pt idx="11">
                    <c:v>с≤8.5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0.08</c:v>
                </c:pt>
                <c:pt idx="9">
                  <c:v>0.013</c:v>
                </c:pt>
                <c:pt idx="10">
                  <c:v>0.03</c:v>
                </c:pt>
                <c:pt idx="11">
                  <c:v>0.036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5"/>
          <c:min val="0"/>
        </c:scaling>
        <c:delete val="0"/>
        <c:axPos val="l"/>
        <c:majorGridlines>
          <c:spPr>
            <a:ln w="6350" cap="flat">
              <a:solidFill>
                <a:srgbClr val="E6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6E6E7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Сегодня разбираем третью модель блока – дерево решений. kNN запоминал выборку, логистическая регрессия проводила прямую, а дерево задает цепочку простых вопросов. К концу занятия каждый должен понимать, как дерево выбирает вопросы, и быть готовым написать его сам на чистом Python в части 4 практической работы.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Игра на 3–4 минуты. Загадайте животное и дайте классу угадывать вопросами «да/нет». Выпишите на доске вопросы, которые задавали. Спросите: какой вопрос был самым полезным? Подведите к мысли: хороший вопрос отсекает примерно половину вариантов, плохой («Это кошка?») почти ничего не дает. Дерево решений делает ровно это – подбирает вопросы, после которых остается как можно меньше неопределенности.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Первая часть – как дерево выглядит и как им пользоваться, когда оно уже построено. Как его строить – во второй части.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дерево построено на учебной выборке из 10 учеников: сколько часов готовились и сколько спали перед зачетом. Эта же выборка будет в ноутбуке. Разберите термины. Корень – первый вопрос. Узел – любой вопрос, у него ровно два выхода. Лист – конец пути, там хранится ответ. Обратите внимание: в каждом узле сравнивается ОДИН признак с ОДНИМ числом. Под листьями подписано, сколько учеников обучающей выборки туда попало.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Пройдите путь вместе с классом, показывая пальцем на дерево с прошлого слайда. Затем спросите: а если ученик готовился 6 часов и спал 4? (Сразу направо – сдал.) Ключевой контраст с kNN: kNN обучается мгновенно, но предсказывает долго – считает расстояние до всех объектов. Дерево наоборот: учится долго, а предсказывает за несколько сравнений.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Нарисуйте на доске оси «часы» и «сон» и нанесите 10 учеников. Первый вопрос «часы ≤ 4.5» – вертикальная линия. Второй вопрос задается только в левой части – поэтому пунктир обрывается на 4.5. Итог: плоскость разбита на прямоугольники, каждому соответствует лист. Сравните с логистической регрессией: там граница – одна наклонная прямая. Отсюда же ответ на вопрос из ноутбука, почему дереву не нужно масштабирование.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главный вопрос: откуда дерево знает, что спрашивать «часы ≤ 4.5», а не «сон ≤ 7»? Ответ – оно перебирает все варианты и считает, какой вопрос лучше. Нужно лишь научиться измерять «лучше».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Спросите класс, какой вопрос лучше, еще до всяких формул – все ответят «Б». Почему? После вопроса Б правая группа полностью «сдал», и в левой почти все «не сдал». После вопроса А в обеих группах каша – мы почти ничего не узнали. Задача: превратить интуицию «почти чисто» в число, чтобы компьютер мог сравнивать вопросы сам. Числа «прирост» внизу пока просто покажите – через два слайда мы научимся их считать.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Посчитайте на доске все три примера вместе с классом. p – это просто доля: 6 из 10 – это 0.6. Возводим доли в квадрат, складываем и вычитаем из единицы. Запомнить нужно два крайних случая: чисто – 0, поровну – 0.5 (для двух классов; для трех классов поровну будет 2/3). Смысл «вероятность ошибиться» – для сильной группы: если наугад раздавать метки в пропорции 60/40, ошибемся с вероятностью 0.6·0.4 + 0.4·0.6 = 0.48. Это именно 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Энтропию подробно не выводим, достаточно показать, что это «родственник» Джини. Посмотрите на графики: по горизонтали – доля класса «сдал» в группе. Обе кривые равны нулю по краям (группа чистая) и максимальны в середине. Точка 0.48 – наша выборка. Сильным ученикам можно дать задачу: посчитать энтропию для 6/4 (около 0.97 бита).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L и n R – сколько объектов ушло налево и направо, n – сколько было в узле. Зачем веса? Представьте вопрос, который отделяет одного ученика: его группа идеально чистая, G = 0, но толку мало – остальные 9 остались в каше. Веса не дают такому вопросу выглядеть хорошим. Прирост – разность «было» и «стало». Подчеркните слово «жадный»: дерево не планирует на несколько шагов вперед.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ключевой слайд занятия – посчитайте его полностью на доске, лучше руками учеников. Шаг 1: беспорядок родителя уже знаем – 0.48. Шаг 2: левая группа – 4 не сдали и 1 сдал, доли 0.8 и 0.2, G = 0.32. Шаг 3: правая – все сдали, G = 0. Шаг 4: обе группы по 5 человек, веса по 0.5, J = 0.16. Шаг 5: прирост 0.32. Затем раздайте задание: посчитать прирост для «часы ≤ 2.5» (ответ около 0.31). Какой вопрос лучше? Разница маленькая – и именно поэтому считать должен компьютер. Эти же числа проверяют ячейки ноутбука.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Компьютер делает то, что мы делали руками, но для каждого возможного вопроса. Почему пороги – середины? Между 4 и 5 часами нет ни одного ученика, поэтому порог 4.1 и порог 4.9 делят выборку одинаково. Берем середину – так делает и scikit-learn. Обратите внимание на «ч ≤ 2.5»: прирост почти такой же, как у победителя. Это функция best_split в ноутбуке: два вложенных цикла – по признакам и по порогам.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функция build_tree. Главное слово – рекурсия: функция строит узел и вызывает сама себя для левой и правой части. Почему это не бесконечно? Каждый вызов получает меньше объектов и глубину на единицу больше, а шаг 1 гарантирует остановку. Покажите на дереве учеников: корень – «часы ≤ 4.5», правая часть сразу чистая – лист; левая часть снова проходит 4 шага и получает вопрос «сон ≤ 8.5».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ноутбуке первые три условия проверяются в начале build_tree, четвертое – когда best_split вернул None. Ответ листа – функция most_common. Спросите: чем это похоже на kNN? Там тоже голосование, только голосуют k ближайших соседей, а тут – объекты, попавшие в лист.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Картинки построены на синтетических данных «две луны» с шумом. При глубине 1 дерево задает один вопрос – это слишком грубо. Без ограничений дерево продолжает резать, пока каждый лист не станет чистым: на обучающей 100 %, но на тесте хуже, потому что оно подстроилось под шум – видите узкие полоски? Это та же история, что с k = 1 в kNN. В ноутбуке (вопрос 7) ученики сами построят таблицу точности от глубины на датасете Wine.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Переходим к практике. Задача – написать все, что мы обсудили, без библиотек. После этого sklearn перестанет быть черным ящиком: вы будете знать, что происходит внутри DecisionTreeClassifier.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Вложенные словари – самый простой способ хранить дерево без классов. Узел знает свой вопрос (feature и threshold) и двух потомков. Лист знает ответ. Поле n нужно только для печати, gain – для анализа. Функция print_tree в ноутбуке уже написана, она обходит этот словарь рекурсивно.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ноутбук и этот план. Функции идут от простых к сложным, каждая опирается на предыдущие. Темным выделены две главные: best_split – сердце обучения, build_tree – рекурсия. Сначала все проверяется на 10 учениках со слайдов (числа можно сверить с доской), потом дерево обучается на Wine и сравнивается с sklearn. Правило: внутри функций – только списки, словари, циклы и math.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плюс, ради которого деревья любят в бизнесе и медицине, – их можно прочитать и объяснить. Главный минус – неустойчивость: уберите пару объектов, и корень может смениться. Именно поэтому на практике одиночное дерево используют редко, зато ансамбли деревьев – одни из самых сильных моделей для табличных данных. Это задел на следующие темы.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Попросите 2–3 учеников своими словами объяснить, как дерево выбирает первый вопрос. Если объяснение содержит слова «перебирает», «беспорядок» и «прирост» – тема усвоена. Домашнее задание – закончить часть 4 ноутбука; сильным – задания повышенной сложности (энтропия, min_samples_leaf, важность признаков).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0972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«ИСКУССТВЕННЫЙ ИНТЕЛЛЕКТ» · 9 КЛАСС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Деревья решений: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модель учится задавать вопросы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4069080"/>
            <a:ext cx="502920" cy="438912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pic>
        <p:nvPicPr>
          <p:cNvPr id="6" name="Image 1" descr="img/c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4178808"/>
            <a:ext cx="210312" cy="2103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720" y="40873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Инженерная школа «УникУм», КузГТУ им. Т. Ф. Горбачева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62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43400" y="914400"/>
            <a:ext cx="548640" cy="475488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pic>
        <p:nvPicPr>
          <p:cNvPr id="4" name="Image 1" descr="img/quo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1033272"/>
            <a:ext cx="228600" cy="2286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343400" y="160020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«Я загадал животное. Угадайте его, задавая только вопросы "да" или "нет"»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4343400" y="31546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вопрос выгоднее задать первым: «Это кошка?» или «Оно живет в воде?» Почему? Ответ на этот вопрос – и есть идея дерева решений.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2140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устроено дерево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5643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Корень, узлы, листья и путь предсказания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Деревья решений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СТРОЕНИЕ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 чего состоит дерево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 flipH="1">
            <a:off x="1600200" y="1783080"/>
            <a:ext cx="1051560" cy="685800"/>
          </a:xfrm>
          <a:prstGeom prst="line">
            <a:avLst/>
          </a:prstGeom>
          <a:noFill/>
          <a:ln w="19050">
            <a:solidFill>
              <a:srgbClr val="8A8A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51760" y="1783080"/>
            <a:ext cx="1234440" cy="685800"/>
          </a:xfrm>
          <a:prstGeom prst="line">
            <a:avLst/>
          </a:prstGeom>
          <a:noFill/>
          <a:ln w="19050">
            <a:solidFill>
              <a:srgbClr val="8A8A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868680" y="2926080"/>
            <a:ext cx="731520" cy="685800"/>
          </a:xfrm>
          <a:prstGeom prst="line">
            <a:avLst/>
          </a:prstGeom>
          <a:noFill/>
          <a:ln w="19050">
            <a:solidFill>
              <a:srgbClr val="8A8A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2926080"/>
            <a:ext cx="777240" cy="685800"/>
          </a:xfrm>
          <a:prstGeom prst="line">
            <a:avLst/>
          </a:prstGeom>
          <a:noFill/>
          <a:ln w="19050">
            <a:solidFill>
              <a:srgbClr val="8A8A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91640" y="1901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1901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063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3063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83080" y="13258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8308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часы ≤ 4.5 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246888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сон ≤ 8.5 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2487168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91840" y="24871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СДАЛ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9443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учеников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61188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F2F1ED"/>
          </a:solidFill>
          <a:ln w="12700">
            <a:solidFill>
              <a:srgbClr val="D8D6C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4320" y="3611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СДАЛ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274320" y="40690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ученика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783080" y="361188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783080" y="3611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СДАЛ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783080" y="40690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ученик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1234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806440" y="1261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Корень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806440" y="15453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вопрос. Через него проходят все объекты.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212080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5806440" y="2084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Узел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5806440" y="23682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вида «признак ≤ порог?». Всегда два исхода.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212080" y="2880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5806440" y="2907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Ветви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5806440" y="31912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«Да» – налево, «нет» – направо.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212080" y="3703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5806440" y="3730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Лист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5806440" y="40142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 самый частый класс среди попавших в него объектов.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Деревья решений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ПРЕДСКАЗАНИЕ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Путь от корня до листа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ученик: готовился 3 часа, спал 9 часов. Сдаст?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25880" y="1554480"/>
            <a:ext cx="1005840" cy="868680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pic>
        <p:nvPicPr>
          <p:cNvPr id="6" name="Image 0" descr="img/ic_cloc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1783080"/>
            <a:ext cx="420624" cy="420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03120" y="1444752"/>
            <a:ext cx="365760" cy="320040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103120" y="1444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560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Корень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880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 ≤ 4.5?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≤ 4.5 – да, идем налево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2834640" y="1783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069080" y="1554480"/>
            <a:ext cx="1005840" cy="868680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pic>
        <p:nvPicPr>
          <p:cNvPr id="13" name="Image 1" descr="img/ic_be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783080"/>
            <a:ext cx="420624" cy="42062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846320" y="1444752"/>
            <a:ext cx="365760" cy="320040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46320" y="1444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3474720" y="2560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Узел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3474720" y="2880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сон ≤ 8.5?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&gt; 8.5 – нет, идем направо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5577840" y="1783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6812280" y="1554480"/>
            <a:ext cx="1005840" cy="868680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20" name="Image 2" descr="img/ic_flag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1783080"/>
            <a:ext cx="420624" cy="42062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589520" y="1444752"/>
            <a:ext cx="365760" cy="320040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589520" y="1444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6217920" y="2560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Лист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6217920" y="2880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 СДАЛ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закончен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31520" y="3611880"/>
            <a:ext cx="7680960" cy="868680"/>
          </a:xfrm>
          <a:prstGeom prst="roundRect">
            <a:avLst>
              <a:gd name="adj" fmla="val 8421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005840" y="3803904"/>
            <a:ext cx="566928" cy="49377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27" name="Image 3" descr="img/ic_bulb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" y="3931920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783080" y="361188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Сравните с kNN: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измеряет расстояние до КАЖДОГО обучающего объекта. Дерево делает не больше сравнений, чем его глубина – здесь всего 2.</a:t>
            </a:r>
            <a:endParaRPr lang="en-US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Деревья решений</a:t>
            </a:r>
            <a:endParaRPr lang="en-US" sz="750" dirty="0"/>
          </a:p>
        </p:txBody>
      </p:sp>
      <p:sp>
        <p:nvSpPr>
          <p:cNvPr id="30" name="Text 2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arch_to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2743200" cy="3840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42793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горизонтали – часы подготовки, по вертикали – сон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3749040" y="5029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ГЕОМЕТРИЯ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3749040" y="7315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Дерево режет плоскость на прямоугольники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749040" y="1828800"/>
            <a:ext cx="420624" cy="365760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749040" y="182880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8105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Каждый вопрос – разрез вдоль оси.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343400" y="21031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Сплошная линия – «часы = 4.5», пунктир – «сон = 8.5».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749040" y="2743200"/>
            <a:ext cx="420624" cy="365760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749040" y="274320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343400" y="27249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Каждый лист – прямоугольная область.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343400" y="30175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Золотые области – «сдал», темные – «не сдал».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749040" y="3657600"/>
            <a:ext cx="420624" cy="365760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749040" y="365760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343400" y="36393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Граница решений – ступеньки.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343400" y="39319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Разрез по одному признаку не зависит от масштаба других – поэтому дереву не нужна нормализация.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Деревья решений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2140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дерево учится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5643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Мера беспорядка, прирост информации, перебор порогов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Деревья решений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ИДЕЯ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Хороший вопрос дает чистые группы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377440" y="1188720"/>
            <a:ext cx="4389120" cy="658368"/>
          </a:xfrm>
          <a:prstGeom prst="roundRect">
            <a:avLst>
              <a:gd name="adj" fmla="val 11111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560320" y="12252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10 учеников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063240" y="1517904"/>
            <a:ext cx="201168" cy="201168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64992" y="1517904"/>
            <a:ext cx="201168" cy="201168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66744" y="1517904"/>
            <a:ext cx="201168" cy="201168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1517904"/>
            <a:ext cx="201168" cy="20116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70248" y="1517904"/>
            <a:ext cx="201168" cy="201168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517904"/>
            <a:ext cx="201168" cy="20116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73752" y="1517904"/>
            <a:ext cx="201168" cy="20116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75504" y="1517904"/>
            <a:ext cx="201168" cy="20116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77256" y="1517904"/>
            <a:ext cx="201168" cy="20116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79008" y="1517904"/>
            <a:ext cx="201168" cy="20116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103120"/>
            <a:ext cx="3840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2240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 А: сон ≤ 7.5 ?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2743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да: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325880" y="2743200"/>
            <a:ext cx="201168" cy="201168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18488" y="2743200"/>
            <a:ext cx="201168" cy="201168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11096" y="2743200"/>
            <a:ext cx="201168" cy="201168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03704" y="2743200"/>
            <a:ext cx="201168" cy="20116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96312" y="2743200"/>
            <a:ext cx="201168" cy="20116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88920" y="2743200"/>
            <a:ext cx="201168" cy="20116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3154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нет: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325880" y="3154680"/>
            <a:ext cx="201168" cy="201168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18488" y="3154680"/>
            <a:ext cx="201168" cy="20116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11096" y="3154680"/>
            <a:ext cx="201168" cy="20116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03704" y="3154680"/>
            <a:ext cx="201168" cy="20116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3703320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3703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перемешано – плохой вопрос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4069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прирост 0.03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2103120"/>
            <a:ext cx="3840480" cy="2377440"/>
          </a:xfrm>
          <a:prstGeom prst="roundRect">
            <a:avLst>
              <a:gd name="adj" fmla="val 3077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29200" y="2240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 Б: часы ≤ 4.5 ?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0" y="2743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да: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532120" y="2743200"/>
            <a:ext cx="201168" cy="201168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24728" y="2743200"/>
            <a:ext cx="201168" cy="201168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17336" y="2743200"/>
            <a:ext cx="201168" cy="201168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9944" y="2743200"/>
            <a:ext cx="201168" cy="20116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02552" y="2743200"/>
            <a:ext cx="201168" cy="201168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029200" y="3154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нет: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532120" y="3154680"/>
            <a:ext cx="201168" cy="20116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24728" y="3154680"/>
            <a:ext cx="201168" cy="20116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17336" y="3154680"/>
            <a:ext cx="201168" cy="20116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9944" y="3154680"/>
            <a:ext cx="201168" cy="20116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02552" y="3154680"/>
            <a:ext cx="201168" cy="20116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29200" y="3703320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029200" y="3703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почти чисто – хороший вопрос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5029200" y="4069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прирост 0.32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685800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сдал    </a:t>
            </a:r>
            <a:pPr indent="0" marL="0">
              <a:buNone/>
            </a:pPr>
            <a:r>
              <a:rPr lang="en-US" sz="95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сдал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Деревья решений</a:t>
            </a:r>
            <a:endParaRPr lang="en-US" sz="750" dirty="0"/>
          </a:p>
        </p:txBody>
      </p:sp>
      <p:sp>
        <p:nvSpPr>
          <p:cNvPr id="52" name="Text 5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МЕРА БЕСПОРЯДКА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212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Критерий Джини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754880" y="457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 = 1 − Σ p</a:t>
            </a:r>
            <a:pPr algn="r" indent="0" marL="0">
              <a:buNone/>
            </a:pPr>
            <a:r>
              <a:rPr lang="en-US" sz="2800" b="1" baseline="-40000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pPr algn="r" indent="0" marL="0">
              <a:buNone/>
            </a:pPr>
            <a:r>
              <a:rPr lang="en-US" sz="28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²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0241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algn="r" indent="0" marL="0">
              <a:buNone/>
            </a:pPr>
            <a:r>
              <a:rPr lang="en-US" sz="1100" b="1" baseline="-40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algn="r"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доля объектов класса k в группе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603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91640"/>
            <a:ext cx="155448" cy="15544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1691640"/>
            <a:ext cx="155448" cy="15544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7864" y="1691640"/>
            <a:ext cx="155448" cy="15544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08176" y="1691640"/>
            <a:ext cx="155448" cy="15544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1691640"/>
            <a:ext cx="155448" cy="15544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1691640"/>
            <a:ext cx="155448" cy="15544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39112" y="1691640"/>
            <a:ext cx="155448" cy="15544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49424" y="1691640"/>
            <a:ext cx="155448" cy="15544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59736" y="1691640"/>
            <a:ext cx="155448" cy="15544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70048" y="1691640"/>
            <a:ext cx="155448" cy="15544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Все одного класса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299923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1 − 1² = 0. Идеальная чистота.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1463040"/>
            <a:ext cx="25603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20440" y="1691640"/>
            <a:ext cx="155448" cy="15544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30752" y="1691640"/>
            <a:ext cx="155448" cy="15544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41064" y="1691640"/>
            <a:ext cx="155448" cy="15544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51376" y="1691640"/>
            <a:ext cx="155448" cy="15544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61688" y="1691640"/>
            <a:ext cx="155448" cy="15544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1691640"/>
            <a:ext cx="155448" cy="155448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82312" y="1691640"/>
            <a:ext cx="155448" cy="155448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92624" y="1691640"/>
            <a:ext cx="155448" cy="155448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02936" y="1691640"/>
            <a:ext cx="155448" cy="155448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13248" y="1691640"/>
            <a:ext cx="155448" cy="155448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2044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</a:t>
            </a:r>
            <a:endParaRPr lang="en-US" sz="3600" dirty="0"/>
          </a:p>
        </p:txBody>
      </p:sp>
      <p:sp>
        <p:nvSpPr>
          <p:cNvPr id="32" name="Text 30"/>
          <p:cNvSpPr txBox="1"/>
          <p:nvPr/>
        </p:nvSpPr>
        <p:spPr>
          <a:xfrm>
            <a:off x="3520440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Поровну: 5 и 5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3520440" y="299923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1 − 0.5² − 0.5² = 0.5. Максимум для двух классов.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1463040"/>
            <a:ext cx="2560320" cy="2240280"/>
          </a:xfrm>
          <a:prstGeom prst="roundRect">
            <a:avLst>
              <a:gd name="adj" fmla="val 3265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1691640"/>
            <a:ext cx="155448" cy="15544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73952" y="1691640"/>
            <a:ext cx="155448" cy="15544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84264" y="1691640"/>
            <a:ext cx="155448" cy="15544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94576" y="1691640"/>
            <a:ext cx="155448" cy="15544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04888" y="1691640"/>
            <a:ext cx="155448" cy="15544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15200" y="1691640"/>
            <a:ext cx="155448" cy="155448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25512" y="1691640"/>
            <a:ext cx="155448" cy="155448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35824" y="1691640"/>
            <a:ext cx="155448" cy="155448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46136" y="1691640"/>
            <a:ext cx="155448" cy="155448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56448" y="1691640"/>
            <a:ext cx="155448" cy="155448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6364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0.48</a:t>
            </a:r>
            <a:endParaRPr lang="en-US" sz="3600" dirty="0"/>
          </a:p>
        </p:txBody>
      </p:sp>
      <p:sp>
        <p:nvSpPr>
          <p:cNvPr id="46" name="Text 44"/>
          <p:cNvSpPr txBox="1"/>
          <p:nvPr/>
        </p:nvSpPr>
        <p:spPr>
          <a:xfrm>
            <a:off x="6263640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Наш пример: 6 и 4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6263640" y="299923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1 − 0.6² − 0.4² = 0.48. Почти максимальный беспорядок.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" y="393192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22960" y="393192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Смысл: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– вероятность ошибиться, если взять случайный объект группы и дать ему случайную метку в тех же пропорциях.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Деревья решений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АЛЬТЕРНАТИВА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Энтропия – вторая мера беспорядка</a:t>
            </a:r>
            <a:endParaRPr lang="en-US" sz="2600" dirty="0"/>
          </a:p>
        </p:txBody>
      </p:sp>
      <p:pic>
        <p:nvPicPr>
          <p:cNvPr id="4" name="Image 0" descr="img/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389120" cy="27340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0873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меры: 0 для чистой группы, максимум при 50/50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21208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= −Σ p</a:t>
            </a:r>
            <a:pPr indent="0" marL="0">
              <a:buNone/>
            </a:pPr>
            <a:r>
              <a:rPr lang="en-US" sz="2000" b="1" baseline="-40000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pPr indent="0" marL="0">
              <a:buNone/>
            </a:pPr>
            <a:r>
              <a:rPr lang="en-US" sz="20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log</a:t>
            </a:r>
            <a:pPr indent="0" marL="0">
              <a:buNone/>
            </a:pPr>
            <a:r>
              <a:rPr lang="en-US" sz="2000" b="1" baseline="-40000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20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</a:t>
            </a:r>
            <a:pPr indent="0" marL="0">
              <a:buNone/>
            </a:pPr>
            <a:r>
              <a:rPr lang="en-US" sz="2000" b="1" baseline="-40000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212080" y="1984248"/>
            <a:ext cx="310896" cy="274320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0" y="19659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 теории информации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222199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бит нужно, чтобы сообщить класс объекта. Для 50/50 – ровно 1 бит.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212080" y="2761488"/>
            <a:ext cx="310896" cy="274320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0" y="27432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Ведет себя как Джини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669280" y="299923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Графики почти повторяют друг друга, и деревья получаются очень похожими.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212080" y="3538728"/>
            <a:ext cx="310896" cy="274320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69280" y="35204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Джини – по умолчанию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5669280" y="377647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проще в вычислениях: нет логарифма. Энтропия – в задании повышенной сложности.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Деревья решений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pic>
        <p:nvPicPr>
          <p:cNvPr id="3" name="Image 0" descr="img/hex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411480"/>
            <a:ext cx="2651760" cy="23774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514600" y="411480"/>
            <a:ext cx="365760" cy="320040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11480" y="31089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33375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оценить вопрос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3566160" y="5669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297680" y="6400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 = (n</a:t>
            </a:r>
            <a:pPr indent="0" marL="0">
              <a:buNone/>
            </a:pPr>
            <a:r>
              <a:rPr lang="en-US" sz="1400" b="1" baseline="-40000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/n)·G</a:t>
            </a:r>
            <a:pPr indent="0" marL="0">
              <a:buNone/>
            </a:pPr>
            <a:r>
              <a:rPr lang="en-US" sz="1400" b="1" baseline="-40000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(n</a:t>
            </a:r>
            <a:pPr indent="0" marL="0">
              <a:buNone/>
            </a:pPr>
            <a:r>
              <a:rPr lang="en-US" sz="1400" b="1" baseline="-40000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/n)·G</a:t>
            </a:r>
            <a:pPr indent="0" marL="0">
              <a:buNone/>
            </a:pPr>
            <a:r>
              <a:rPr lang="en-US" sz="1400" b="1" baseline="-40000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297680" y="97840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Беспорядок после вопроса: среднее двух групп с весами. Большая группа влияет сильнее маленькой.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66160" y="1737360"/>
            <a:ext cx="5120640" cy="914"/>
          </a:xfrm>
          <a:prstGeom prst="line">
            <a:avLst/>
          </a:prstGeom>
          <a:noFill/>
          <a:ln w="9525">
            <a:solidFill>
              <a:srgbClr val="E2E2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66160" y="19385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4297680" y="20116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Прирост = G</a:t>
            </a:r>
            <a:pPr indent="0" marL="0">
              <a:buNone/>
            </a:pPr>
            <a:r>
              <a:rPr lang="en-US" sz="1400" b="1" baseline="-40000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родитель</a:t>
            </a:r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J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297680" y="235000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сколько вопрос уменьшил беспорядок. Чем больше прирост, тем лучше вопрос.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566160" y="3108960"/>
            <a:ext cx="5120640" cy="914"/>
          </a:xfrm>
          <a:prstGeom prst="line">
            <a:avLst/>
          </a:prstGeom>
          <a:noFill/>
          <a:ln w="9525">
            <a:solidFill>
              <a:srgbClr val="E2E2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66160" y="33101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4297680" y="33832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Лучший вопрос = максимум прироста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297680" y="372160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Перебираем все признаки и все пороги. Выбор жадный: лучшее «здесь и сейчас», без заглядывания вперед.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356616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Деревья решений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 «часы ≤ 4.5?» на нашей выборке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8046720" cy="914"/>
          </a:xfrm>
          <a:prstGeom prst="line">
            <a:avLst/>
          </a:prstGeom>
          <a:noFill/>
          <a:ln w="12700">
            <a:solidFill>
              <a:srgbClr val="C9C9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848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0848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20848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0848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0848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20848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0848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0848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20848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23042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 подготовки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04088" y="1691640"/>
            <a:ext cx="237744" cy="237744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18488" y="1691640"/>
            <a:ext cx="237744" cy="237744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18488" y="1399032"/>
            <a:ext cx="237744" cy="237744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32888" y="1691640"/>
            <a:ext cx="237744" cy="237744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47288" y="1691640"/>
            <a:ext cx="237744" cy="237744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61688" y="1691640"/>
            <a:ext cx="237744" cy="237744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76088" y="1691640"/>
            <a:ext cx="237744" cy="237744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0488" y="1691640"/>
            <a:ext cx="237744" cy="237744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04888" y="1691640"/>
            <a:ext cx="237744" cy="237744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19288" y="1691640"/>
            <a:ext cx="237744" cy="237744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0" y="1188720"/>
            <a:ext cx="914" cy="1143000"/>
          </a:xfrm>
          <a:prstGeom prst="line">
            <a:avLst/>
          </a:prstGeom>
          <a:noFill/>
          <a:ln w="25400">
            <a:solidFill>
              <a:srgbClr val="8F8260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3520440" y="10241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4.5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1188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да: 4 не сдали, 1 сдал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1188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нет: 5 сдали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260604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2743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ЛЕВАЯ ГРУППА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30632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pPr indent="0" marL="0">
              <a:buNone/>
            </a:pPr>
            <a:r>
              <a:rPr lang="en-US" sz="1500" b="1" baseline="-40000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1 − 0.8² − 0.2²</a:t>
            </a:r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0.32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3794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учеников: доли 4/5 и 1/5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0" y="2606040"/>
            <a:ext cx="2103120" cy="1920240"/>
          </a:xfrm>
          <a:prstGeom prst="roundRect">
            <a:avLst>
              <a:gd name="adj" fmla="val 3810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29000" y="2743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ПРАВАЯ ГРУППА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3429000" y="30632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pPr indent="0" marL="0">
              <a:buNone/>
            </a:pPr>
            <a:r>
              <a:rPr lang="en-US" sz="1500" b="1" baseline="-40000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1 − 1² = 0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3429000" y="3794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учеников, все сдали – группа чистая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0" y="2606040"/>
            <a:ext cx="3108960" cy="1920240"/>
          </a:xfrm>
          <a:prstGeom prst="roundRect">
            <a:avLst>
              <a:gd name="adj" fmla="val 381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715000" y="2743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71500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 = 0.5·0.32 + 0.5·0 = 0.16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571500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Прирост = 0.48 − 0.16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715000" y="3749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0.32</a:t>
            </a:r>
            <a:endParaRPr lang="en-US" sz="32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Деревья решений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ПЕРЕБОР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Проверяем все пороги – выбираем лучший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5394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252728"/>
            <a:ext cx="310896" cy="274320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4652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Какие пороги пробовать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446520" y="1508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Середины между соседними значениями признака: (4 + 5) / 2 = 4.5. Любой порог между 4 и 5 делит выборку одинаково.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035040" y="2350008"/>
            <a:ext cx="310896" cy="274320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4652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вопросов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2606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Часы: 8 порогов, сон: 4. Всего 12. В датасете Wine – почти тысяча вопросов только в корне.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35040" y="35661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63640" y="36576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ПОБЕДИТЕЛЬ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часы ≤ 4.5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4206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прирост 0.32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Деревья решений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CART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строится все дерево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60120" y="1325880"/>
            <a:ext cx="1005840" cy="868680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pic>
        <p:nvPicPr>
          <p:cNvPr id="5" name="Image 0" descr="img/ic_stop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554480"/>
            <a:ext cx="420624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737360" y="1216152"/>
            <a:ext cx="365760" cy="320040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737360" y="12161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331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Проверить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651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Пора остановиться? Тогда узел – лист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2121408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035808" y="1325880"/>
            <a:ext cx="1005840" cy="868680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pic>
        <p:nvPicPr>
          <p:cNvPr id="12" name="Image 1" descr="img/ic_search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1554480"/>
            <a:ext cx="420624" cy="42062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813048" y="1216152"/>
            <a:ext cx="365760" cy="320040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813048" y="12161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2578608" y="2331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Перебрать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624328" y="2651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признаки и пороги, у каждого считаем прирост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197096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5111496" y="1325880"/>
            <a:ext cx="1005840" cy="868680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pic>
        <p:nvPicPr>
          <p:cNvPr id="19" name="Image 2" descr="img/ic_cu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1554480"/>
            <a:ext cx="420624" cy="420624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888736" y="1216152"/>
            <a:ext cx="365760" cy="320040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888736" y="12161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4654296" y="2331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Разбить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4700016" y="2651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Лучший вопрос делит выборку на две части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6272784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7187184" y="1325880"/>
            <a:ext cx="1005840" cy="868680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pic>
        <p:nvPicPr>
          <p:cNvPr id="26" name="Image 3" descr="img/ic_redo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1554480"/>
            <a:ext cx="420624" cy="420624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964424" y="1216152"/>
            <a:ext cx="365760" cy="320040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964424" y="12161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6729984" y="2331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Повторить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6775704" y="2651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 же для каждой части – рекурсия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731520" y="3520440"/>
            <a:ext cx="7680960" cy="868680"/>
          </a:xfrm>
          <a:prstGeom prst="roundRect">
            <a:avLst>
              <a:gd name="adj" fmla="val 8421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1005840" y="3712464"/>
            <a:ext cx="566928" cy="49377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33" name="Image 4" descr="img/ic_bulb_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" y="3840480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783080" y="35204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Жадный алгоритм: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каждом шаге берется лучший вопрос «здесь и сейчас». Лучшее дерево целиком он не гарантирует, зато работает быстро.</a:t>
            </a:r>
            <a:endParaRPr lang="en-US" sz="1250" dirty="0"/>
          </a:p>
        </p:txBody>
      </p:sp>
      <p:sp>
        <p:nvSpPr>
          <p:cNvPr id="35" name="Text 28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Деревья решений</a:t>
            </a:r>
            <a:endParaRPr lang="en-US" sz="750" dirty="0"/>
          </a:p>
        </p:txBody>
      </p:sp>
      <p:sp>
        <p:nvSpPr>
          <p:cNvPr id="36" name="Text 29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ОСТАНОВКА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2120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Когда узел становится листом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84048" cy="338328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5" name="Image 0" descr="img/ic_check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307592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2161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Узел чистый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1508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объекты одного класса, G = 0. Дальше делить незачем.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384048" cy="338328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9" name="Image 1" descr="img/ic_check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13055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20391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Достигнута глубина max_depth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051560" y="2331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Ограничение, которое задаем мы. Главная защита от переобучения.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02920" y="2880360"/>
            <a:ext cx="384048" cy="338328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13" name="Image 2" descr="img/ic_check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953512"/>
            <a:ext cx="182880" cy="1828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28620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Мало объектов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051560" y="3154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min_samples_split – выводы по двум-трем объектам ненадежны.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02920" y="3703320"/>
            <a:ext cx="384048" cy="338328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17" name="Image 3" descr="img/ic_check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3776472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51560" y="3685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Нет полезного вопроса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1051560" y="3977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одно разбиение не уменьшает беспорядок.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669280" y="502920"/>
            <a:ext cx="3017520" cy="4023360"/>
          </a:xfrm>
          <a:prstGeom prst="roundRect">
            <a:avLst>
              <a:gd name="adj" fmla="val 2424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943600" y="7315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ЛИСТА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5943600" y="1005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Самый частый класс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6035040" y="1645920"/>
            <a:ext cx="274320" cy="274320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37376" y="1645920"/>
            <a:ext cx="274320" cy="274320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839712" y="1645920"/>
            <a:ext cx="274320" cy="274320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242048" y="1645920"/>
            <a:ext cx="274320" cy="274320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644384" y="1645920"/>
            <a:ext cx="274320" cy="274320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766560" y="20116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29" name="Shape 23"/>
          <p:cNvSpPr/>
          <p:nvPr/>
        </p:nvSpPr>
        <p:spPr>
          <a:xfrm>
            <a:off x="6309360" y="251460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6309360" y="2514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СДАЛ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5943600" y="3108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Голосование большинством – как в kNN, только голосуют объекты листа.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5943600" y="3749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Нужны вероятности? Берем доли: 80 % «не сдал», 20 % «сдал».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Деревья решений</a:t>
            </a:r>
            <a:endParaRPr lang="en-US" sz="750" dirty="0"/>
          </a:p>
        </p:txBody>
      </p:sp>
      <p:sp>
        <p:nvSpPr>
          <p:cNvPr id="34" name="Text 28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ГЛУБИНА ДЕРЕВА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Чем глубже, тем опаснее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108960" y="1024128"/>
            <a:ext cx="2926080" cy="3639312"/>
          </a:xfrm>
          <a:prstGeom prst="roundRect">
            <a:avLst>
              <a:gd name="adj" fmla="val 2500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pic>
        <p:nvPicPr>
          <p:cNvPr id="5" name="Image 0" descr="img/depth_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265176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240280"/>
            <a:ext cx="10515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24028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недообучение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633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max_depth = 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999232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вопрос – одна прямая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Обучающая 81 %, тестовая 79 %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слишком простая</a:t>
            </a:r>
            <a:endParaRPr lang="en-US" sz="1000" dirty="0"/>
          </a:p>
        </p:txBody>
      </p:sp>
      <p:pic>
        <p:nvPicPr>
          <p:cNvPr id="10" name="Image 1" descr="img/depth_d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43000"/>
            <a:ext cx="2651760" cy="1371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83280" y="2240280"/>
            <a:ext cx="1051560" cy="182880"/>
          </a:xfrm>
          <a:prstGeom prst="roundRect">
            <a:avLst>
              <a:gd name="adj" fmla="val 50000"/>
            </a:avLst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383280" y="224028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</a:t>
            </a:r>
            <a:endParaRPr lang="en-US" sz="800" dirty="0"/>
          </a:p>
        </p:txBody>
      </p:sp>
      <p:sp>
        <p:nvSpPr>
          <p:cNvPr id="13" name="Text 9"/>
          <p:cNvSpPr txBox="1"/>
          <p:nvPr/>
        </p:nvSpPr>
        <p:spPr>
          <a:xfrm>
            <a:off x="3291840" y="2633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max_depth = 4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291840" y="2999232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 следует форме данных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Обучающая 89 %, тестовая 91 %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Глубину подбираем по отложенной выборке</a:t>
            </a:r>
            <a:endParaRPr lang="en-US" sz="1000" dirty="0"/>
          </a:p>
        </p:txBody>
      </p:sp>
      <p:pic>
        <p:nvPicPr>
          <p:cNvPr id="15" name="Image 2" descr="img/depth_din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43000"/>
            <a:ext cx="2651760" cy="13716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17920" y="2240280"/>
            <a:ext cx="10515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217920" y="224028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переобучение</a:t>
            </a:r>
            <a:endParaRPr lang="en-US" sz="800" dirty="0"/>
          </a:p>
        </p:txBody>
      </p:sp>
      <p:sp>
        <p:nvSpPr>
          <p:cNvPr id="18" name="Text 13"/>
          <p:cNvSpPr txBox="1"/>
          <p:nvPr/>
        </p:nvSpPr>
        <p:spPr>
          <a:xfrm>
            <a:off x="6126480" y="2633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 ограничений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126480" y="2999232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Почти каждый лист – один объект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Обучающая 100 %, тестовая 83 %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запомнила шум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Деревья решений</a:t>
            </a:r>
            <a:endParaRPr lang="en-US" sz="750" dirty="0"/>
          </a:p>
        </p:txBody>
      </p:sp>
      <p:sp>
        <p:nvSpPr>
          <p:cNvPr id="21" name="Text 1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2140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Пишем дерево на Python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5643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Практическая работа №1, часть 4: только списки, словари и циклы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Деревья решений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ДАННЫХ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хранить дерево в коде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0" cy="2514600"/>
          </a:xfrm>
          <a:prstGeom prst="roundRect">
            <a:avLst>
              <a:gd name="adj" fmla="val 2909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258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 УЗЕЛ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45920"/>
            <a:ext cx="4114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{'leaf': False,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'feature': 0,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E8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часы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'threshold': 4.5,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'gain': 0.32,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'n': 10,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E8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# объектов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'left':  {...},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E8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ветка «да»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'right': {...}}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E8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ветка «нет»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303520" y="1188720"/>
            <a:ext cx="3383280" cy="2514600"/>
          </a:xfrm>
          <a:prstGeom prst="roundRect">
            <a:avLst>
              <a:gd name="adj" fmla="val 2909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577840" y="13258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1645920"/>
            <a:ext cx="2926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{'leaf': True,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'class': 1,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E8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сдал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'n': 5}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 – словарь, внутри которого словари. </a:t>
            </a:r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Спуск по дереву: node = node['left'] или node['right'], пока не встретится 'leaf': True.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Деревья решений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ПРАКТИКИ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Девять функций – одно дерево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3560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356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count_classes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6642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объектов каждого класса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68980" y="1188720"/>
            <a:ext cx="26517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1860" y="143560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1860" y="14356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04622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gini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046220" y="16642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1 − Σ pₖ²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0760" y="1188720"/>
            <a:ext cx="26517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43560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4356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16642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Делит выборку по вопросу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240280"/>
            <a:ext cx="26517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248716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8716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information_gain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27157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родителя минус взвешенный 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68980" y="2240280"/>
            <a:ext cx="26517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51860" y="248716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51860" y="248716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04622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candidate_thresholds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046220" y="27157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Середины соседних значений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2240280"/>
            <a:ext cx="2651760" cy="896112"/>
          </a:xfrm>
          <a:prstGeom prst="roundRect">
            <a:avLst>
              <a:gd name="adj" fmla="val 8163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248716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248716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best_split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0" y="27157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Перебор: признак × порог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291840"/>
            <a:ext cx="26517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353872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35387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123444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most_common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234440" y="37673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листа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68980" y="3291840"/>
            <a:ext cx="2651760" cy="896112"/>
          </a:xfrm>
          <a:prstGeom prst="roundRect">
            <a:avLst>
              <a:gd name="adj" fmla="val 8163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51860" y="353872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451860" y="35387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404622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build_tree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4046220" y="37673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Рекурсивное построение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80760" y="3291840"/>
            <a:ext cx="26517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63640" y="353872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263640" y="35387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685800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858000" y="37673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Спуск от корня до листа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44074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каждой функции – готовая ячейка «Проверка». Напечатала OK – можно двигаться дальше.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Деревья решений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54680"/>
            <a:ext cx="9144000" cy="1988820"/>
          </a:xfrm>
          <a:prstGeom prst="rect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ИТОГОВАЯ ОЦЕНКА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Сильные и слабые стороны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749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371600"/>
            <a:ext cx="438912" cy="384048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7" name="Image 0" descr="img/ic_check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472184"/>
            <a:ext cx="201168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417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Сильные стороны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19202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читаются человеком: «если …, то …»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нужно масштабировать признаки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Ловит нелинейные зависимости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Быстрое предсказание: несколько сравнений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3749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83480" y="1371600"/>
            <a:ext cx="438912" cy="384048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pic>
        <p:nvPicPr>
          <p:cNvPr id="12" name="Image 1" descr="img/ic_time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1472184"/>
            <a:ext cx="201168" cy="2011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77840" y="1417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Слабые стороны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029200" y="19202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ограничений легко переобучается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Неустойчиво: чуть другие данные – другое дерево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 только ступеньками вдоль осей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Жадное построение – не лучшее дерево в целом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886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дальше: </a:t>
            </a:r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слабости лечатся ансамблями – сотни деревьев голосуют вместе. Это случайный лес и градиентный бустинг.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Деревья решений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ЗАНЯТИЯ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должно остаться в голове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73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 решений – цепочка вопросов «признак ≤ порог?». Ответ хранится в листе.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325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1673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Хороший вопрос делает группы чище. Чистоту меряет критерий Джини: 0 – чисто, 0.5 – поровну.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68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16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вопроса – прирост: G родителя минус взвешенный G двух частей.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2468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2816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– жадный перебор всех признаков и порогов, затем то же для каждой части.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959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Глубина – главный рычаг: мелкое дерево недообучено, глубокое переобучено.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3959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 читается как набор правил и не требует масштабирования признаков.</a:t>
            </a:r>
            <a:endParaRPr lang="en-US" sz="1050" dirty="0"/>
          </a:p>
        </p:txBody>
      </p:sp>
      <p:pic>
        <p:nvPicPr>
          <p:cNvPr id="16" name="Image 0" descr="img/hex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594360"/>
            <a:ext cx="3474720" cy="384048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8458200" y="3977640"/>
            <a:ext cx="548640" cy="557784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12480" y="457200"/>
            <a:ext cx="411480" cy="356616"/>
          </a:xfrm>
          <a:prstGeom prst="hexagon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Деревья решений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Деревья решений</dc:title>
  <dc:subject>PptxGenJS Presentation</dc:subject>
  <dc:creator>PptxGenJS</dc:creator>
  <cp:lastModifiedBy>PptxGenJS</cp:lastModifiedBy>
  <cp:revision>1</cp:revision>
  <dcterms:created xsi:type="dcterms:W3CDTF">2026-09-22T05:42:51Z</dcterms:created>
  <dcterms:modified xsi:type="dcterms:W3CDTF">2026-09-22T05:42:51Z</dcterms:modified>
</cp:coreProperties>
</file>